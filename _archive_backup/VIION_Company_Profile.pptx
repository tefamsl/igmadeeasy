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B3A8A"/>
          </a:solidFill>
          <a:ln w="12700">
            <a:solidFill>
              <a:srgbClr val="1B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EA5B8">
              <a:alpha val="70000"/>
            </a:srgbClr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219456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VIION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1800" kern="0" dirty="0">
                <a:solidFill>
                  <a:srgbClr val="0E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Digital Healthcare IT Partner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371600" cy="45720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2018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www.viiongroup.com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9144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081234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20000" dirty="0"/>
          </a:p>
        </p:txBody>
      </p:sp>
      <p:sp>
        <p:nvSpPr>
          <p:cNvPr id="13" name="Text 11"/>
          <p:cNvSpPr/>
          <p:nvPr/>
        </p:nvSpPr>
        <p:spPr>
          <a:xfrm>
            <a:off x="6217920" y="27432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0EA5B8">
                    <a:alpha val="5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0"/>
            <a:ext cx="274320" cy="514350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A5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ARE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560320" cy="4572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5146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IT Specialists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Hospitals &amp; Clinics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Egypt Since 2018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VIION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143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VIION is a Healthcare IT company established in 2018, dedicated to transforming digital infrastructure for hospitals and clinics. We bridge the gap between clinical needs and technology solutions.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423160"/>
            <a:ext cx="1325880" cy="118872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24871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389120" y="2971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97880" y="2423160"/>
            <a:ext cx="1325880" cy="118872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97880" y="24871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897880" y="2971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2423160"/>
            <a:ext cx="1325880" cy="118872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24871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406640" y="2971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37947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6B8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specializes in technical support, system analysis, networking, and strategic consultation tailored for the healthcare sector.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VISION &amp; MISSION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rgbClr val="1B3A8A"/>
          </a:solidFill>
          <a:ln w="12700">
            <a:solidFill>
              <a:srgbClr val="0EA5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VISION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empower healthcare organizations with secure, scalable, and reliable IT solutions that improve patient care.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aim to be the trusted digital partner for every healthcare provider — from individual clinics to large hospital networks.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1B3A8A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34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MISSION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deliver innovative, end-to-end IT services that drive efficiency, compliance, and digital transformation in the healthcare industry.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commit to continuous support, transparent partnerships, and solutions aligned with international standards like HIPAA and GAHAR.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SERVICES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15544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673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Infrastructure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03911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deploy &amp; manage robust healthcare IT infrastructure for continuous uptime.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14600" y="114300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1143000"/>
            <a:ext cx="54864" cy="15544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2801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1673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EHR/EMR Support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51760" y="203911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integration, support and optimization of Electronic Health &amp; Medical Record systems.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709160" y="114300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09160" y="1143000"/>
            <a:ext cx="54864" cy="15544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801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1673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&amp; Virtualization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46320" y="203911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cloud and hybrid solutions tailored to hospital workloads and data needs.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903720" y="1143000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03720" y="1143000"/>
            <a:ext cx="54864" cy="15544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28016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1673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Support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040880" y="203911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HIPAA, GAHAR and local regulatory compliance at every level.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2898648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2898648"/>
            <a:ext cx="54864" cy="15544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3580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Help Desk &amp; Support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37947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technical helpdesk keeping clinical systems running without disruption.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514600" y="2898648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514600" y="2898648"/>
            <a:ext cx="54864" cy="15544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303580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65176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 &amp; Connectivity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651760" y="37947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VPN, LAN/WAN design, firewall and connectivity solutions for all sites.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709160" y="2898648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09160" y="2898648"/>
            <a:ext cx="54864" cy="15544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035808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84632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Strategy &amp; Consulting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846320" y="37947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roadmaps, business analysis and FRD documentation for digital transformation.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903720" y="2898648"/>
            <a:ext cx="20116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903720" y="2898648"/>
            <a:ext cx="54864" cy="15544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3035808"/>
            <a:ext cx="347472" cy="34747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04088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Encryption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7040880" y="37947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VPN, encryption and firewall protection to safeguard sensitive patient data.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HELP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4023360" cy="164592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64008" cy="164592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618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" y="12435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Improve Efficiency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61288" y="1737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administrative burden and system downtime so clinical staff can focus on patient care.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097280"/>
            <a:ext cx="4023360" cy="164592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097280"/>
            <a:ext cx="64008" cy="164592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6187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12435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Connectivity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50408" y="1737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seamless access to patient records and systems across all hospital departments and branches.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11480" y="3017520"/>
            <a:ext cx="4023360" cy="164592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1480" y="3017520"/>
            <a:ext cx="64008" cy="164592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8211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61288" y="31638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Compliance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61288" y="3657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sensitive patient data with enterprise-grade encryption, firewalls, and HIPAA/GAHAR alignment.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3017520"/>
            <a:ext cx="4023360" cy="164592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3017520"/>
            <a:ext cx="64008" cy="164592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82112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50408" y="31638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Support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50408" y="3657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initial consultation to ongoing maintenance, we're your dedicated long-term IT partner.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&amp; STANDARDS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51760" cy="150876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325880"/>
            <a:ext cx="475488" cy="475488"/>
          </a:xfrm>
          <a:prstGeom prst="ellipse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624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4632" y="18653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HIPAA Compliance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" y="22494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adherence to HIPAA data privacy and security rules for protected health information.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27832" y="1170432"/>
            <a:ext cx="2651760" cy="150876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325880"/>
            <a:ext cx="475488" cy="475488"/>
          </a:xfrm>
          <a:prstGeom prst="ellipse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3624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92424" y="18653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GAHAR Standards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92424" y="22494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Egypt's General Authority for Healthcare Accreditation and Regulation standards.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35624" y="1170432"/>
            <a:ext cx="2651760" cy="150876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91072" y="1325880"/>
            <a:ext cx="475488" cy="475488"/>
          </a:xfrm>
          <a:prstGeom prst="ellipse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36245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0216" y="18653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&amp; Hybrid Infrastructure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00216" y="22494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private, and hybrid cloud deployments scaled for healthcare environments.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20040" y="2862072"/>
            <a:ext cx="2651760" cy="150876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" y="3017520"/>
            <a:ext cx="475488" cy="475488"/>
          </a:xfrm>
          <a:prstGeom prst="ellipse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05409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4632" y="35570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EHR / CRM / HIS Integration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84632" y="3941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between Electronic Health Records, CRM and Hospital Information Systems.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27832" y="2862072"/>
            <a:ext cx="2651760" cy="150876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83280" y="3017520"/>
            <a:ext cx="475488" cy="475488"/>
          </a:xfrm>
          <a:prstGeom prst="ellipse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3054096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92424" y="35570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VPN &amp; Encryption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92424" y="3941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VPN, SSL/TLS encryption and multi-layer firewall protection.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35624" y="2862072"/>
            <a:ext cx="2651760" cy="150876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91072" y="3017520"/>
            <a:ext cx="475488" cy="475488"/>
          </a:xfrm>
          <a:prstGeom prst="ellipse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054096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300216" y="35570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Secure Data Centers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300216" y="3941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configuration and hardening of on-premise and co-located data center environments.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 STORIES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114800" cy="182880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114800" cy="4572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88920" y="1005840"/>
            <a:ext cx="1463040" cy="292608"/>
          </a:xfrm>
          <a:prstGeom prst="rect">
            <a:avLst/>
          </a:prstGeom>
          <a:solidFill>
            <a:srgbClr val="0EA5B8">
              <a:alpha val="80000"/>
            </a:srgbClr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Network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93192" y="10241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Gamal Group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536192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936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2 clinics + HQ via secure VPN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82880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936" y="1801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EHR &amp; call center implementation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12140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" y="2093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security with advanced firewalls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414016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0936" y="2386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system downtime significantly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4709160" y="914400"/>
            <a:ext cx="4114800" cy="182880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09160" y="914400"/>
            <a:ext cx="4114800" cy="4572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269480" y="1005840"/>
            <a:ext cx="1463040" cy="292608"/>
          </a:xfrm>
          <a:prstGeom prst="rect">
            <a:avLst/>
          </a:prstGeom>
          <a:solidFill>
            <a:srgbClr val="0EA5B8">
              <a:alpha val="80000"/>
            </a:srgbClr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269480" y="1005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Tourism Platform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4873752" y="10241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Consolto Egypt</a:t>
            </a:r>
            <a:endParaRPr lang="en-US" sz="14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536192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11496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&amp; interactive online platform design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1828800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11496" y="1801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strategy development</a:t>
            </a:r>
            <a:endParaRPr lang="en-US" sz="10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2121408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11496" y="2093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with administrative systems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2414016"/>
            <a:ext cx="182880" cy="18288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11496" y="2386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connection with financial systems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228600" y="2926080"/>
            <a:ext cx="4114800" cy="182880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228600" y="2926080"/>
            <a:ext cx="4114800" cy="4572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2788920" y="3017520"/>
            <a:ext cx="1463040" cy="292608"/>
          </a:xfrm>
          <a:prstGeom prst="rect">
            <a:avLst/>
          </a:prstGeom>
          <a:solidFill>
            <a:srgbClr val="0EA5B8">
              <a:alpha val="80000"/>
            </a:srgbClr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2788920" y="3017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Infrastructure</a:t>
            </a:r>
            <a:endParaRPr lang="en-US" sz="800" dirty="0"/>
          </a:p>
        </p:txBody>
      </p:sp>
      <p:sp>
        <p:nvSpPr>
          <p:cNvPr id="34" name="Text 24"/>
          <p:cNvSpPr/>
          <p:nvPr/>
        </p:nvSpPr>
        <p:spPr>
          <a:xfrm>
            <a:off x="393192" y="30358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Obour Spec. Hospital</a:t>
            </a:r>
            <a:endParaRPr lang="en-US" sz="14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192" y="3547872"/>
            <a:ext cx="182880" cy="1828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30936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internal network performance</a:t>
            </a:r>
            <a:endParaRPr lang="en-US" sz="10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" y="3840480"/>
            <a:ext cx="182880" cy="18288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30936" y="3813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workshops &amp; FRD delivery</a:t>
            </a:r>
            <a:endParaRPr lang="en-US" sz="10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192" y="4133088"/>
            <a:ext cx="182880" cy="18288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30936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cycle implementation coordination</a:t>
            </a:r>
            <a:endParaRPr lang="en-US" sz="10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3192" y="4425696"/>
            <a:ext cx="182880" cy="18288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30936" y="4398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design and secure DB &amp; network</a:t>
            </a:r>
            <a:endParaRPr lang="en-US" sz="1000" dirty="0"/>
          </a:p>
        </p:txBody>
      </p:sp>
      <p:sp>
        <p:nvSpPr>
          <p:cNvPr id="43" name="Shape 29"/>
          <p:cNvSpPr/>
          <p:nvPr/>
        </p:nvSpPr>
        <p:spPr>
          <a:xfrm>
            <a:off x="4709160" y="2926080"/>
            <a:ext cx="4114800" cy="1828800"/>
          </a:xfrm>
          <a:prstGeom prst="rect">
            <a:avLst/>
          </a:prstGeom>
          <a:solidFill>
            <a:srgbClr val="0D1F4E"/>
          </a:solidFill>
          <a:ln w="12700">
            <a:solidFill>
              <a:srgbClr val="1B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4" name="Shape 30"/>
          <p:cNvSpPr/>
          <p:nvPr/>
        </p:nvSpPr>
        <p:spPr>
          <a:xfrm>
            <a:off x="4709160" y="2926080"/>
            <a:ext cx="4114800" cy="4572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>
            <a:off x="7269480" y="3017520"/>
            <a:ext cx="1463040" cy="292608"/>
          </a:xfrm>
          <a:prstGeom prst="rect">
            <a:avLst/>
          </a:prstGeom>
          <a:solidFill>
            <a:srgbClr val="0EA5B8">
              <a:alpha val="80000"/>
            </a:srgbClr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46" name="Text 32"/>
          <p:cNvSpPr/>
          <p:nvPr/>
        </p:nvSpPr>
        <p:spPr>
          <a:xfrm>
            <a:off x="7269480" y="3017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Overhaul</a:t>
            </a:r>
            <a:endParaRPr lang="en-US" sz="800" dirty="0"/>
          </a:p>
        </p:txBody>
      </p:sp>
      <p:sp>
        <p:nvSpPr>
          <p:cNvPr id="47" name="Text 33"/>
          <p:cNvSpPr/>
          <p:nvPr/>
        </p:nvSpPr>
        <p:spPr>
          <a:xfrm>
            <a:off x="4873752" y="30358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Cairo Cure Medical Center</a:t>
            </a:r>
            <a:endParaRPr lang="en-US" sz="140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3752" y="3547872"/>
            <a:ext cx="182880" cy="18288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5111496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internal network performance upgrade</a:t>
            </a:r>
            <a:endParaRPr lang="en-US" sz="1000" dirty="0"/>
          </a:p>
        </p:txBody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73752" y="3840480"/>
            <a:ext cx="182880" cy="182880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5111496" y="3813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&amp; FRD documentation</a:t>
            </a:r>
            <a:endParaRPr lang="en-US" sz="1000" dirty="0"/>
          </a:p>
        </p:txBody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73752" y="4133088"/>
            <a:ext cx="182880" cy="182880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5111496" y="4105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system implementation rollout</a:t>
            </a:r>
            <a:endParaRPr lang="en-US" sz="1000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73752" y="4425696"/>
            <a:ext cx="182880" cy="182880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5111496" y="4398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hospital data center infrastructure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ACHIEVED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600200" cy="24688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600200" cy="777240"/>
          </a:xfrm>
          <a:prstGeom prst="rect">
            <a:avLst/>
          </a:prstGeom>
          <a:solidFill>
            <a:srgbClr val="081234"/>
          </a:solidFill>
          <a:ln w="12700">
            <a:solidFill>
              <a:srgbClr val="08123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1704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874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Faster Operations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2450592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81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workflows and better record management across all client facilities.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089404" y="1005840"/>
            <a:ext cx="1600200" cy="24688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89404" y="1005840"/>
            <a:ext cx="1600200" cy="777240"/>
          </a:xfrm>
          <a:prstGeom prst="rect">
            <a:avLst/>
          </a:prstGeom>
          <a:solidFill>
            <a:srgbClr val="081234"/>
          </a:solidFill>
          <a:ln w="12700">
            <a:solidFill>
              <a:srgbClr val="08123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117043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80844" y="1874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Better Patient Experience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180844" y="2450592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81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patient flow, organization, and care coordination through digital systems.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904488" y="1005840"/>
            <a:ext cx="1600200" cy="24688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904488" y="1005840"/>
            <a:ext cx="1600200" cy="777240"/>
          </a:xfrm>
          <a:prstGeom prst="rect">
            <a:avLst/>
          </a:prstGeom>
          <a:solidFill>
            <a:srgbClr val="081234"/>
          </a:solidFill>
          <a:ln w="12700">
            <a:solidFill>
              <a:srgbClr val="08123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988" y="117043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95928" y="1874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Strong Security &amp; Compliance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995928" y="2450592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81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data protection and full HIPAA &amp; GAHAR regulatory compliance.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719572" y="1005840"/>
            <a:ext cx="1600200" cy="24688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19572" y="1005840"/>
            <a:ext cx="1600200" cy="777240"/>
          </a:xfrm>
          <a:prstGeom prst="rect">
            <a:avLst/>
          </a:prstGeom>
          <a:solidFill>
            <a:srgbClr val="081234"/>
          </a:solidFill>
          <a:ln w="12700">
            <a:solidFill>
              <a:srgbClr val="08123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17043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11012" y="1874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Scalable Infrastructure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811012" y="2450592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81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setups designed to support expansion, new branches, and growing data.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534656" y="1005840"/>
            <a:ext cx="1600200" cy="2468880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534656" y="1005840"/>
            <a:ext cx="1600200" cy="777240"/>
          </a:xfrm>
          <a:prstGeom prst="rect">
            <a:avLst/>
          </a:prstGeom>
          <a:solidFill>
            <a:srgbClr val="081234"/>
          </a:solidFill>
          <a:ln w="12700">
            <a:solidFill>
              <a:srgbClr val="08123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6156" y="1170432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26096" y="1874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International Standards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626096" y="2450592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81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solutions comply with GAHAR and international healthcare IT benchmarks.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CHOOSE VIION?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3977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64592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35024"/>
            <a:ext cx="640080" cy="640080"/>
          </a:xfrm>
          <a:prstGeom prst="ellipse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0744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2618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19+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057400" y="14904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280160" y="182880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Collective Experience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80160" y="2194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brings together over 19 years of combined expertise in healthcare IT across Egypt.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09160" y="1170432"/>
            <a:ext cx="3977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170432"/>
            <a:ext cx="64008" cy="164592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92040" y="1335024"/>
            <a:ext cx="640080" cy="640080"/>
          </a:xfrm>
          <a:prstGeom prst="ellipse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80744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69280" y="12618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6446520" y="149047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669280" y="182880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Healthcare-Focused Team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669280" y="2194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specialist on our team is trained and experienced specifically in clinical environments.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0040" y="3044952"/>
            <a:ext cx="3977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3044952"/>
            <a:ext cx="64008" cy="164592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2920" y="3209544"/>
            <a:ext cx="640080" cy="640080"/>
          </a:xfrm>
          <a:prstGeom prst="ellipse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55264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80160" y="313639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7+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1965960" y="33649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280160" y="3703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Reliable Custom Solutions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280160" y="4069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tailor our solutions to each facility's unique needs — no one-size-fits-all approaches.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709160" y="3044952"/>
            <a:ext cx="3977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709160" y="3044952"/>
            <a:ext cx="64008" cy="164592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892040" y="3209544"/>
            <a:ext cx="640080" cy="640080"/>
          </a:xfrm>
          <a:prstGeom prst="ellipse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55264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669280" y="313639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A5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3200" dirty="0"/>
          </a:p>
        </p:txBody>
      </p:sp>
      <p:sp>
        <p:nvSpPr>
          <p:cNvPr id="34" name="Text 28"/>
          <p:cNvSpPr/>
          <p:nvPr/>
        </p:nvSpPr>
        <p:spPr>
          <a:xfrm>
            <a:off x="6446520" y="33649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669280" y="37033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Continuous Partnership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669280" y="40690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A5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just implement and leave — we provide ongoing support and grow with your organization.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2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D1F4E"/>
          </a:solidFill>
          <a:ln w="12700">
            <a:solidFill>
              <a:srgbClr val="0D1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EA5B8">
              <a:alpha val="70000"/>
            </a:srgbClr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0" y="45720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0812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</a:t>
            </a:r>
            <a:endParaRPr lang="en-US" sz="28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IN TOUCH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3200400" cy="54864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245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Mahmoud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Consultant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6712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130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+20 155 666 1772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18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9352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a_mahmoud@viiongroup.com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7647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7398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www.viiongroup.com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Digital Healthcare IT Partner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B8"/>
          </a:solidFill>
          <a:ln w="12700">
            <a:solidFill>
              <a:srgbClr val="0EA5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731520"/>
            <a:ext cx="9144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b="1" spc="1500" kern="0" dirty="0">
                <a:solidFill>
                  <a:srgbClr val="0812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VIION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0" y="11887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0" y="2423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Digital Healthcare IT Partner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www.viiongroup.com  |  a_mahmoud@viiongroup.com  |  +20 155 666 1772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VIION – Company Profile</dc:title>
  <dc:subject>PptxGenJS Presentation</dc:subject>
  <dc:creator>VIION Group</dc:creator>
  <cp:lastModifiedBy>VIION Group</cp:lastModifiedBy>
  <cp:revision>1</cp:revision>
  <dcterms:created xsi:type="dcterms:W3CDTF">2026-05-16T20:22:40Z</dcterms:created>
  <dcterms:modified xsi:type="dcterms:W3CDTF">2026-05-16T20:22:40Z</dcterms:modified>
</cp:coreProperties>
</file>